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7" roundtripDataSignature="AMtx7mgTkWuPa8cCkL72nDkgbfTdQBCn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9B5B29D-D56E-4CC4-ABCD-351C8510D393}">
  <a:tblStyle styleId="{C9B5B29D-D56E-4CC4-ABCD-351C8510D39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customschemas.google.com/relationships/presentationmetadata" Target="metadata"/><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Optional Slice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 name="Shape 13"/>
        <p:cNvGrpSpPr/>
        <p:nvPr/>
      </p:nvGrpSpPr>
      <p:grpSpPr>
        <a:xfrm>
          <a:off x="0" y="0"/>
          <a:ext cx="0" cy="0"/>
          <a:chOff x="0" y="0"/>
          <a:chExt cx="0" cy="0"/>
        </a:xfrm>
      </p:grpSpPr>
      <p:sp>
        <p:nvSpPr>
          <p:cNvPr id="14" name="Google Shape;14;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5" name="Google Shape;1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 name="Google Shape;22;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7" name="Google Shape;2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4" name="Google Shape;3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www.youtube.com/watch?v=RmifaYcLPik" TargetMode="External"/><Relationship Id="rId4" Type="http://schemas.openxmlformats.org/officeDocument/2006/relationships/image" Target="../media/image1.jpg"/><Relationship Id="rId5" Type="http://schemas.openxmlformats.org/officeDocument/2006/relationships/hyperlink" Target="https://youtu.be/RmifaYcLPi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youtube.com/watch?v=CL9A8YhwUps" TargetMode="External"/><Relationship Id="rId4" Type="http://schemas.openxmlformats.org/officeDocument/2006/relationships/hyperlink" Target="https://youtu.be/rXzN89I4_Yk"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d3tt741pwxqwm0.cloudfront.net/WGBH/pcep14/pcep14_int_co2cycle/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youtu.be/4Gmkb3txXwQ" TargetMode="External"/><Relationship Id="rId4" Type="http://schemas.openxmlformats.org/officeDocument/2006/relationships/hyperlink" Target="http://www.youtube.com/watch?v=4Gmkb3txXwQ" TargetMode="External"/><Relationship Id="rId5"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flipH="1" rot="-115">
            <a:off x="117450" y="2728324"/>
            <a:ext cx="8950500" cy="2359200"/>
          </a:xfrm>
          <a:prstGeom prst="rect">
            <a:avLst/>
          </a:prstGeom>
          <a:noFill/>
          <a:ln>
            <a:noFill/>
          </a:ln>
          <a:effectLst>
            <a:outerShdw blurRad="57150" rotWithShape="0" algn="bl" dir="9720000" dist="19050">
              <a:srgbClr val="000000">
                <a:alpha val="60000"/>
              </a:srgbClr>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b="1" lang="en" sz="3000">
                <a:solidFill>
                  <a:srgbClr val="38761D"/>
                </a:solidFill>
                <a:latin typeface="Verdana"/>
                <a:ea typeface="Verdana"/>
                <a:cs typeface="Verdana"/>
                <a:sym typeface="Verdana"/>
              </a:rPr>
              <a:t>The Carbon Cycle and Photosynthesis </a:t>
            </a:r>
            <a:endParaRPr b="1" sz="3000">
              <a:solidFill>
                <a:srgbClr val="38761D"/>
              </a:solidFill>
              <a:latin typeface="Verdana"/>
              <a:ea typeface="Verdana"/>
              <a:cs typeface="Verdana"/>
              <a:sym typeface="Verdana"/>
            </a:endParaRPr>
          </a:p>
          <a:p>
            <a:pPr indent="0" lvl="0" marL="0" rtl="0" algn="l">
              <a:lnSpc>
                <a:spcPct val="100000"/>
              </a:lnSpc>
              <a:spcBef>
                <a:spcPts val="0"/>
              </a:spcBef>
              <a:spcAft>
                <a:spcPts val="0"/>
              </a:spcAft>
              <a:buSzPts val="5200"/>
              <a:buNone/>
            </a:pPr>
            <a:r>
              <a:t/>
            </a:r>
            <a:endParaRPr b="1" sz="1300">
              <a:solidFill>
                <a:srgbClr val="38761D"/>
              </a:solidFill>
              <a:latin typeface="Verdana"/>
              <a:ea typeface="Verdana"/>
              <a:cs typeface="Verdana"/>
              <a:sym typeface="Verdana"/>
            </a:endParaRPr>
          </a:p>
          <a:p>
            <a:pPr indent="0" lvl="0" marL="0" rtl="0" algn="ctr">
              <a:lnSpc>
                <a:spcPct val="100000"/>
              </a:lnSpc>
              <a:spcBef>
                <a:spcPts val="0"/>
              </a:spcBef>
              <a:spcAft>
                <a:spcPts val="0"/>
              </a:spcAft>
              <a:buSzPts val="5200"/>
              <a:buNone/>
            </a:pPr>
            <a:r>
              <a:rPr b="1" lang="en" sz="1900">
                <a:solidFill>
                  <a:srgbClr val="38761D"/>
                </a:solidFill>
                <a:latin typeface="Verdana"/>
                <a:ea typeface="Verdana"/>
                <a:cs typeface="Verdana"/>
                <a:sym typeface="Verdana"/>
              </a:rPr>
              <a:t>Life Science</a:t>
            </a:r>
            <a:endParaRPr b="1" sz="1900">
              <a:solidFill>
                <a:srgbClr val="38761D"/>
              </a:solidFill>
              <a:latin typeface="Verdana"/>
              <a:ea typeface="Verdana"/>
              <a:cs typeface="Verdana"/>
              <a:sym typeface="Verdana"/>
            </a:endParaRPr>
          </a:p>
          <a:p>
            <a:pPr indent="0" lvl="0" marL="0" rtl="0" algn="ctr">
              <a:lnSpc>
                <a:spcPct val="100000"/>
              </a:lnSpc>
              <a:spcBef>
                <a:spcPts val="0"/>
              </a:spcBef>
              <a:spcAft>
                <a:spcPts val="0"/>
              </a:spcAft>
              <a:buSzPts val="5200"/>
              <a:buNone/>
            </a:pPr>
            <a:r>
              <a:t/>
            </a:r>
            <a:endParaRPr b="1" sz="1900">
              <a:solidFill>
                <a:srgbClr val="38761D"/>
              </a:solidFill>
              <a:latin typeface="Verdana"/>
              <a:ea typeface="Verdana"/>
              <a:cs typeface="Verdana"/>
              <a:sym typeface="Verdana"/>
            </a:endParaRPr>
          </a:p>
          <a:p>
            <a:pPr indent="0" lvl="0" marL="0" rtl="0" algn="ctr">
              <a:lnSpc>
                <a:spcPct val="100000"/>
              </a:lnSpc>
              <a:spcBef>
                <a:spcPts val="0"/>
              </a:spcBef>
              <a:spcAft>
                <a:spcPts val="0"/>
              </a:spcAft>
              <a:buSzPts val="5200"/>
              <a:buNone/>
            </a:pPr>
            <a:r>
              <a:rPr b="1" lang="en" sz="2200">
                <a:solidFill>
                  <a:srgbClr val="000000"/>
                </a:solidFill>
                <a:latin typeface="Verdana"/>
                <a:ea typeface="Verdana"/>
                <a:cs typeface="Verdana"/>
                <a:sym typeface="Verdana"/>
              </a:rPr>
              <a:t>Learning Goal: Examine the carbon cycle, investigate seasonal fluctuations in global CO</a:t>
            </a:r>
            <a:r>
              <a:rPr b="1" baseline="-25000" lang="en" sz="2200">
                <a:solidFill>
                  <a:srgbClr val="000000"/>
                </a:solidFill>
                <a:latin typeface="Verdana"/>
                <a:ea typeface="Verdana"/>
                <a:cs typeface="Verdana"/>
                <a:sym typeface="Verdana"/>
              </a:rPr>
              <a:t>2</a:t>
            </a:r>
            <a:r>
              <a:rPr b="1" lang="en" sz="2200">
                <a:solidFill>
                  <a:srgbClr val="000000"/>
                </a:solidFill>
                <a:latin typeface="Verdana"/>
                <a:ea typeface="Verdana"/>
                <a:cs typeface="Verdana"/>
                <a:sym typeface="Verdana"/>
              </a:rPr>
              <a:t> levels, and relate this to the process of photosynthesis.</a:t>
            </a:r>
            <a:endParaRPr b="1" sz="2200">
              <a:solidFill>
                <a:srgbClr val="000000"/>
              </a:solidFill>
              <a:latin typeface="Verdana"/>
              <a:ea typeface="Verdana"/>
              <a:cs typeface="Verdana"/>
              <a:sym typeface="Verdana"/>
            </a:endParaRPr>
          </a:p>
        </p:txBody>
      </p:sp>
      <p:pic>
        <p:nvPicPr>
          <p:cNvPr id="55" name="Google Shape;55;p1"/>
          <p:cNvPicPr preferRelativeResize="0"/>
          <p:nvPr/>
        </p:nvPicPr>
        <p:blipFill rotWithShape="1">
          <a:blip r:embed="rId3">
            <a:alphaModFix amt="76000"/>
          </a:blip>
          <a:srcRect b="0" l="0" r="0" t="0"/>
          <a:stretch/>
        </p:blipFill>
        <p:spPr>
          <a:xfrm>
            <a:off x="1898075" y="19150"/>
            <a:ext cx="5347849" cy="2676925"/>
          </a:xfrm>
          <a:prstGeom prst="rect">
            <a:avLst/>
          </a:prstGeom>
          <a:noFill/>
          <a:ln>
            <a:noFill/>
          </a:ln>
        </p:spPr>
      </p:pic>
      <p:sp>
        <p:nvSpPr>
          <p:cNvPr id="56" name="Google Shape;56;p1"/>
          <p:cNvSpPr txBox="1"/>
          <p:nvPr/>
        </p:nvSpPr>
        <p:spPr>
          <a:xfrm>
            <a:off x="5701525" y="2345550"/>
            <a:ext cx="1825800" cy="300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50"/>
              <a:buFont typeface="Arial"/>
              <a:buNone/>
            </a:pPr>
            <a:r>
              <a:rPr b="0" i="1" lang="en" sz="750" u="none" cap="none" strike="noStrike">
                <a:solidFill>
                  <a:srgbClr val="6A6378"/>
                </a:solidFill>
                <a:highlight>
                  <a:srgbClr val="FFFFFF"/>
                </a:highlight>
                <a:latin typeface="Arial"/>
                <a:ea typeface="Arial"/>
                <a:cs typeface="Arial"/>
                <a:sym typeface="Arial"/>
              </a:rPr>
              <a:t>Image source: By Sarah Morgan</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2"/>
          <p:cNvSpPr txBox="1"/>
          <p:nvPr>
            <p:ph type="title"/>
          </p:nvPr>
        </p:nvSpPr>
        <p:spPr>
          <a:xfrm>
            <a:off x="363075" y="559750"/>
            <a:ext cx="8542200" cy="4387200"/>
          </a:xfrm>
          <a:prstGeom prst="rect">
            <a:avLst/>
          </a:prstGeom>
          <a:noFill/>
          <a:ln>
            <a:noFill/>
          </a:ln>
        </p:spPr>
        <p:txBody>
          <a:bodyPr anchorCtr="0" anchor="ctr" bIns="91425" lIns="91425" spcFirstLastPara="1" rIns="91425" wrap="square" tIns="91425">
            <a:noAutofit/>
          </a:bodyPr>
          <a:lstStyle/>
          <a:p>
            <a:pPr indent="-342900" lvl="0" marL="457200" rtl="0" algn="l">
              <a:lnSpc>
                <a:spcPct val="100000"/>
              </a:lnSpc>
              <a:spcBef>
                <a:spcPts val="0"/>
              </a:spcBef>
              <a:spcAft>
                <a:spcPts val="0"/>
              </a:spcAft>
              <a:buSzPts val="1800"/>
              <a:buAutoNum type="arabicPeriod"/>
            </a:pPr>
            <a:r>
              <a:rPr lang="en" sz="1800"/>
              <a:t>Phenomenon: The Biosphere 2 experiment</a:t>
            </a:r>
            <a:endParaRPr sz="1800"/>
          </a:p>
          <a:p>
            <a:pPr indent="0" lvl="0" marL="457200" rtl="0" algn="l">
              <a:lnSpc>
                <a:spcPct val="100000"/>
              </a:lnSpc>
              <a:spcBef>
                <a:spcPts val="0"/>
              </a:spcBef>
              <a:spcAft>
                <a:spcPts val="0"/>
              </a:spcAft>
              <a:buSzPts val="4800"/>
              <a:buNone/>
            </a:pPr>
            <a:r>
              <a:t/>
            </a:r>
            <a:endParaRPr sz="1800"/>
          </a:p>
          <a:p>
            <a:pPr indent="-342900" lvl="0" marL="457200" rtl="0" algn="l">
              <a:lnSpc>
                <a:spcPct val="100000"/>
              </a:lnSpc>
              <a:spcBef>
                <a:spcPts val="0"/>
              </a:spcBef>
              <a:spcAft>
                <a:spcPts val="0"/>
              </a:spcAft>
              <a:buSzPts val="1800"/>
              <a:buAutoNum type="arabicPeriod"/>
            </a:pPr>
            <a:r>
              <a:rPr lang="en" sz="1800"/>
              <a:t>Carbon Cycle: Short term cycle vs. long term cycle</a:t>
            </a:r>
            <a:endParaRPr sz="1800"/>
          </a:p>
          <a:p>
            <a:pPr indent="-342900" lvl="1" marL="914400" rtl="0" algn="l">
              <a:lnSpc>
                <a:spcPct val="100000"/>
              </a:lnSpc>
              <a:spcBef>
                <a:spcPts val="0"/>
              </a:spcBef>
              <a:spcAft>
                <a:spcPts val="0"/>
              </a:spcAft>
              <a:buSzPts val="1800"/>
              <a:buAutoNum type="alphaLcPeriod"/>
            </a:pPr>
            <a:r>
              <a:rPr lang="en" sz="1800"/>
              <a:t>Short-term carbon cycle: photosynthesis and cellular respiration (model)</a:t>
            </a:r>
            <a:endParaRPr sz="1800"/>
          </a:p>
          <a:p>
            <a:pPr indent="-342900" lvl="1" marL="914400" rtl="0" algn="l">
              <a:lnSpc>
                <a:spcPct val="100000"/>
              </a:lnSpc>
              <a:spcBef>
                <a:spcPts val="0"/>
              </a:spcBef>
              <a:spcAft>
                <a:spcPts val="0"/>
              </a:spcAft>
              <a:buSzPts val="1800"/>
              <a:buAutoNum type="alphaLcPeriod"/>
            </a:pPr>
            <a:r>
              <a:rPr lang="en" sz="1800"/>
              <a:t>Long term carbon cycle: Cycling of Carbon activity</a:t>
            </a:r>
            <a:endParaRPr sz="1800"/>
          </a:p>
          <a:p>
            <a:pPr indent="0" lvl="0" marL="0" rtl="0" algn="l">
              <a:lnSpc>
                <a:spcPct val="100000"/>
              </a:lnSpc>
              <a:spcBef>
                <a:spcPts val="0"/>
              </a:spcBef>
              <a:spcAft>
                <a:spcPts val="0"/>
              </a:spcAft>
              <a:buNone/>
            </a:pPr>
            <a:r>
              <a:t/>
            </a:r>
            <a:endParaRPr sz="1800"/>
          </a:p>
          <a:p>
            <a:pPr indent="0" lvl="0" marL="0" rtl="0" algn="l">
              <a:lnSpc>
                <a:spcPct val="100000"/>
              </a:lnSpc>
              <a:spcBef>
                <a:spcPts val="0"/>
              </a:spcBef>
              <a:spcAft>
                <a:spcPts val="0"/>
              </a:spcAft>
              <a:buNone/>
            </a:pPr>
            <a:r>
              <a:rPr lang="en" sz="1800"/>
              <a:t>3. 	Measuring CO</a:t>
            </a:r>
            <a:r>
              <a:rPr baseline="-25000" lang="en" sz="1800"/>
              <a:t>2</a:t>
            </a:r>
            <a:r>
              <a:rPr lang="en" sz="1800"/>
              <a:t> in the atmosphere</a:t>
            </a:r>
            <a:endParaRPr sz="1800"/>
          </a:p>
          <a:p>
            <a:pPr indent="-342900" lvl="0" marL="914400" rtl="0" algn="l">
              <a:lnSpc>
                <a:spcPct val="100000"/>
              </a:lnSpc>
              <a:spcBef>
                <a:spcPts val="0"/>
              </a:spcBef>
              <a:spcAft>
                <a:spcPts val="0"/>
              </a:spcAft>
              <a:buSzPts val="1800"/>
              <a:buAutoNum type="alphaLcPeriod"/>
            </a:pPr>
            <a:r>
              <a:rPr lang="en" sz="1800"/>
              <a:t>Observing patterns in: “Watching Earth Breathe”</a:t>
            </a:r>
            <a:endParaRPr sz="1800"/>
          </a:p>
          <a:p>
            <a:pPr indent="0" lvl="0" marL="0" rtl="0" algn="l">
              <a:lnSpc>
                <a:spcPct val="100000"/>
              </a:lnSpc>
              <a:spcBef>
                <a:spcPts val="0"/>
              </a:spcBef>
              <a:spcAft>
                <a:spcPts val="0"/>
              </a:spcAft>
              <a:buSzPts val="4800"/>
              <a:buNone/>
            </a:pPr>
            <a:r>
              <a:t/>
            </a:r>
            <a:endParaRPr sz="1800"/>
          </a:p>
          <a:p>
            <a:pPr indent="0" lvl="0" marL="0" rtl="0" algn="l">
              <a:lnSpc>
                <a:spcPct val="100000"/>
              </a:lnSpc>
              <a:spcBef>
                <a:spcPts val="0"/>
              </a:spcBef>
              <a:spcAft>
                <a:spcPts val="0"/>
              </a:spcAft>
              <a:buNone/>
            </a:pPr>
            <a:r>
              <a:rPr lang="en" sz="1800"/>
              <a:t>4. 	</a:t>
            </a:r>
            <a:r>
              <a:rPr lang="en" sz="1800"/>
              <a:t>Applying this lesson to the Initial Phenomenon (Biosphere 2 Experiment)</a:t>
            </a:r>
            <a:endParaRPr sz="1800"/>
          </a:p>
        </p:txBody>
      </p:sp>
      <p:sp>
        <p:nvSpPr>
          <p:cNvPr id="62" name="Google Shape;62;p2"/>
          <p:cNvSpPr txBox="1"/>
          <p:nvPr>
            <p:ph type="title"/>
          </p:nvPr>
        </p:nvSpPr>
        <p:spPr>
          <a:xfrm>
            <a:off x="0" y="384075"/>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3300">
                <a:solidFill>
                  <a:srgbClr val="FF0000"/>
                </a:solidFill>
              </a:rPr>
              <a:t>Lesson Outline</a:t>
            </a:r>
            <a:endParaRPr b="1" sz="3400">
              <a:solidFill>
                <a:srgbClr val="FF0000"/>
              </a:solidFill>
            </a:endParaRPr>
          </a:p>
          <a:p>
            <a:pPr indent="0" lvl="0" marL="0" rtl="0" algn="ctr">
              <a:lnSpc>
                <a:spcPct val="100000"/>
              </a:lnSpc>
              <a:spcBef>
                <a:spcPts val="0"/>
              </a:spcBef>
              <a:spcAft>
                <a:spcPts val="0"/>
              </a:spcAft>
              <a:buSzPts val="2800"/>
              <a:buNone/>
            </a:pPr>
            <a:r>
              <a:t/>
            </a:r>
            <a:endParaRPr b="1" sz="340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txBox="1"/>
          <p:nvPr>
            <p:ph type="title"/>
          </p:nvPr>
        </p:nvSpPr>
        <p:spPr>
          <a:xfrm>
            <a:off x="-759300" y="242125"/>
            <a:ext cx="10662600" cy="572700"/>
          </a:xfrm>
          <a:prstGeom prst="rect">
            <a:avLst/>
          </a:prstGeom>
          <a:noFill/>
          <a:ln>
            <a:noFill/>
          </a:ln>
        </p:spPr>
        <p:txBody>
          <a:bodyPr anchorCtr="0" anchor="t" bIns="91425" lIns="91425" spcFirstLastPara="1" rIns="91425" wrap="square" tIns="91425">
            <a:noAutofit/>
          </a:bodyPr>
          <a:lstStyle/>
          <a:p>
            <a:pPr indent="-425450" lvl="0" marL="457200" rtl="0" algn="ctr">
              <a:lnSpc>
                <a:spcPct val="100000"/>
              </a:lnSpc>
              <a:spcBef>
                <a:spcPts val="0"/>
              </a:spcBef>
              <a:spcAft>
                <a:spcPts val="0"/>
              </a:spcAft>
              <a:buClr>
                <a:srgbClr val="FF0000"/>
              </a:buClr>
              <a:buSzPts val="3100"/>
              <a:buAutoNum type="arabicPeriod"/>
            </a:pPr>
            <a:r>
              <a:rPr b="1" lang="en" sz="3100">
                <a:solidFill>
                  <a:srgbClr val="FF0000"/>
                </a:solidFill>
              </a:rPr>
              <a:t>Phenomenon: The Biosphere 2 Experiment</a:t>
            </a:r>
            <a:endParaRPr b="1" sz="3100">
              <a:solidFill>
                <a:srgbClr val="FF0000"/>
              </a:solidFill>
            </a:endParaRPr>
          </a:p>
          <a:p>
            <a:pPr indent="0" lvl="0" marL="457200" rtl="0" algn="ctr">
              <a:lnSpc>
                <a:spcPct val="100000"/>
              </a:lnSpc>
              <a:spcBef>
                <a:spcPts val="0"/>
              </a:spcBef>
              <a:spcAft>
                <a:spcPts val="0"/>
              </a:spcAft>
              <a:buSzPts val="2800"/>
              <a:buNone/>
            </a:pPr>
            <a:r>
              <a:t/>
            </a:r>
            <a:endParaRPr b="1" sz="3400">
              <a:solidFill>
                <a:srgbClr val="FF0000"/>
              </a:solidFill>
            </a:endParaRPr>
          </a:p>
          <a:p>
            <a:pPr indent="0" lvl="0" marL="0" rtl="0" algn="l">
              <a:lnSpc>
                <a:spcPct val="100000"/>
              </a:lnSpc>
              <a:spcBef>
                <a:spcPts val="0"/>
              </a:spcBef>
              <a:spcAft>
                <a:spcPts val="0"/>
              </a:spcAft>
              <a:buSzPts val="2800"/>
              <a:buNone/>
            </a:pPr>
            <a:r>
              <a:t/>
            </a:r>
            <a:endParaRPr b="1" sz="3400">
              <a:solidFill>
                <a:srgbClr val="FF0000"/>
              </a:solidFill>
            </a:endParaRPr>
          </a:p>
        </p:txBody>
      </p:sp>
      <p:sp>
        <p:nvSpPr>
          <p:cNvPr id="68" name="Google Shape;68;p3"/>
          <p:cNvSpPr txBox="1"/>
          <p:nvPr/>
        </p:nvSpPr>
        <p:spPr>
          <a:xfrm>
            <a:off x="105850" y="488050"/>
            <a:ext cx="8407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9" name="Google Shape;69;p3"/>
          <p:cNvSpPr txBox="1"/>
          <p:nvPr/>
        </p:nvSpPr>
        <p:spPr>
          <a:xfrm>
            <a:off x="3517550" y="2689000"/>
            <a:ext cx="859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ver wondered what it would have been like to be sealed in the miniature world of Biosphere 2? Take a  our of this  scientific experiment in the Arizona desert. &#10; &#10;520-838-6200" id="70" name="Google Shape;70;p3" title="Biosphere 2: Where Science Lives">
            <a:hlinkClick r:id="rId3"/>
          </p:cNvPr>
          <p:cNvPicPr preferRelativeResize="0"/>
          <p:nvPr/>
        </p:nvPicPr>
        <p:blipFill rotWithShape="1">
          <a:blip r:embed="rId4">
            <a:alphaModFix/>
          </a:blip>
          <a:srcRect b="0" l="0" r="0" t="0"/>
          <a:stretch/>
        </p:blipFill>
        <p:spPr>
          <a:xfrm>
            <a:off x="4744625" y="1288475"/>
            <a:ext cx="4231775" cy="2380374"/>
          </a:xfrm>
          <a:prstGeom prst="rect">
            <a:avLst/>
          </a:prstGeom>
          <a:noFill/>
          <a:ln>
            <a:noFill/>
          </a:ln>
        </p:spPr>
      </p:pic>
      <p:sp>
        <p:nvSpPr>
          <p:cNvPr id="71" name="Google Shape;71;p3"/>
          <p:cNvSpPr txBox="1"/>
          <p:nvPr/>
        </p:nvSpPr>
        <p:spPr>
          <a:xfrm>
            <a:off x="162275" y="1154913"/>
            <a:ext cx="4320000" cy="264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434343"/>
                </a:solidFill>
                <a:latin typeface="Arial"/>
                <a:ea typeface="Arial"/>
                <a:cs typeface="Arial"/>
                <a:sym typeface="Arial"/>
              </a:rPr>
              <a:t>Watch the </a:t>
            </a:r>
            <a:r>
              <a:rPr b="0" i="0" lang="en" sz="2000" u="sng" cap="none" strike="noStrike">
                <a:solidFill>
                  <a:schemeClr val="hlink"/>
                </a:solidFill>
                <a:latin typeface="Arial"/>
                <a:ea typeface="Arial"/>
                <a:cs typeface="Arial"/>
                <a:sym typeface="Arial"/>
                <a:hlinkClick r:id="rId5"/>
              </a:rPr>
              <a:t>video</a:t>
            </a:r>
            <a:r>
              <a:rPr b="0" i="0" lang="en" sz="2000" u="none" cap="none" strike="noStrike">
                <a:solidFill>
                  <a:srgbClr val="434343"/>
                </a:solidFill>
                <a:latin typeface="Arial"/>
                <a:ea typeface="Arial"/>
                <a:cs typeface="Arial"/>
                <a:sym typeface="Arial"/>
              </a:rPr>
              <a:t> and answer the following questions:</a:t>
            </a:r>
            <a:endParaRPr b="0" i="0" sz="2000" u="none" cap="none" strike="noStrike">
              <a:solidFill>
                <a:srgbClr val="434343"/>
              </a:solidFill>
              <a:latin typeface="Arial"/>
              <a:ea typeface="Arial"/>
              <a:cs typeface="Arial"/>
              <a:sym typeface="Arial"/>
            </a:endParaRPr>
          </a:p>
          <a:p>
            <a:pPr indent="-355600" lvl="0" marL="457200" marR="0" rtl="0" algn="l">
              <a:lnSpc>
                <a:spcPct val="100000"/>
              </a:lnSpc>
              <a:spcBef>
                <a:spcPts val="0"/>
              </a:spcBef>
              <a:spcAft>
                <a:spcPts val="0"/>
              </a:spcAft>
              <a:buClr>
                <a:srgbClr val="434343"/>
              </a:buClr>
              <a:buSzPts val="2000"/>
              <a:buFont typeface="Arial"/>
              <a:buAutoNum type="arabicPeriod"/>
            </a:pPr>
            <a:r>
              <a:rPr b="0" i="0" lang="en" sz="2000" u="none" cap="none" strike="noStrike">
                <a:solidFill>
                  <a:srgbClr val="434343"/>
                </a:solidFill>
                <a:latin typeface="Arial"/>
                <a:ea typeface="Arial"/>
                <a:cs typeface="Arial"/>
                <a:sym typeface="Arial"/>
              </a:rPr>
              <a:t>Why was the project named "Biosphere 2" instead of "Biosphere 1"?</a:t>
            </a:r>
            <a:endParaRPr b="0" i="0" sz="2000" u="none" cap="none" strike="noStrike">
              <a:solidFill>
                <a:srgbClr val="434343"/>
              </a:solidFill>
              <a:latin typeface="Arial"/>
              <a:ea typeface="Arial"/>
              <a:cs typeface="Arial"/>
              <a:sym typeface="Arial"/>
            </a:endParaRPr>
          </a:p>
          <a:p>
            <a:pPr indent="-355600" lvl="0" marL="457200" marR="0" rtl="0" algn="l">
              <a:lnSpc>
                <a:spcPct val="100000"/>
              </a:lnSpc>
              <a:spcBef>
                <a:spcPts val="0"/>
              </a:spcBef>
              <a:spcAft>
                <a:spcPts val="0"/>
              </a:spcAft>
              <a:buClr>
                <a:srgbClr val="434343"/>
              </a:buClr>
              <a:buSzPts val="2000"/>
              <a:buFont typeface="Arial"/>
              <a:buAutoNum type="arabicPeriod"/>
            </a:pPr>
            <a:r>
              <a:rPr b="0" i="0" lang="en" sz="2000" u="none" cap="none" strike="noStrike">
                <a:solidFill>
                  <a:srgbClr val="434343"/>
                </a:solidFill>
                <a:latin typeface="Arial"/>
                <a:ea typeface="Arial"/>
                <a:cs typeface="Arial"/>
                <a:sym typeface="Arial"/>
              </a:rPr>
              <a:t>What would plants and animals need to survive in a closed space like Biosphere 2?</a:t>
            </a:r>
            <a:endParaRPr b="0" i="0" sz="2000" u="none" cap="none" strike="noStrike">
              <a:solidFill>
                <a:srgbClr val="43434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1000"/>
                                        <p:tgtEl>
                                          <p:spTgt spid="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4"/>
          <p:cNvSpPr txBox="1"/>
          <p:nvPr>
            <p:ph type="title"/>
          </p:nvPr>
        </p:nvSpPr>
        <p:spPr>
          <a:xfrm>
            <a:off x="311700" y="1990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3300">
                <a:solidFill>
                  <a:srgbClr val="FF0000"/>
                </a:solidFill>
              </a:rPr>
              <a:t>2. Carbon Cycle: Short term cycle vs. long term cycle</a:t>
            </a:r>
            <a:endParaRPr/>
          </a:p>
        </p:txBody>
      </p:sp>
      <p:sp>
        <p:nvSpPr>
          <p:cNvPr id="77" name="Google Shape;77;p4"/>
          <p:cNvSpPr txBox="1"/>
          <p:nvPr>
            <p:ph idx="1" type="body"/>
          </p:nvPr>
        </p:nvSpPr>
        <p:spPr>
          <a:xfrm>
            <a:off x="311700" y="1462600"/>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sz="2200">
                <a:solidFill>
                  <a:srgbClr val="434343"/>
                </a:solidFill>
              </a:rPr>
              <a:t>The short-term carbon cycle involves the rapid exchange of carbon dioxide (CO</a:t>
            </a:r>
            <a:r>
              <a:rPr baseline="-25000" lang="en" sz="2200">
                <a:solidFill>
                  <a:srgbClr val="434343"/>
                </a:solidFill>
              </a:rPr>
              <a:t>2</a:t>
            </a:r>
            <a:r>
              <a:rPr lang="en" sz="2200">
                <a:solidFill>
                  <a:srgbClr val="434343"/>
                </a:solidFill>
              </a:rPr>
              <a:t>) between the atmosphere, land, and oceans through processes like photosynthesis and respiration. It regulates CO</a:t>
            </a:r>
            <a:r>
              <a:rPr baseline="-25000" lang="en" sz="2200">
                <a:solidFill>
                  <a:srgbClr val="434343"/>
                </a:solidFill>
              </a:rPr>
              <a:t>2</a:t>
            </a:r>
            <a:r>
              <a:rPr lang="en" sz="2200">
                <a:solidFill>
                  <a:srgbClr val="434343"/>
                </a:solidFill>
              </a:rPr>
              <a:t> levels on a relatively immediate timescale. In contrast, the long-term carbon cycle operates over geological timescales, involving processes such as rock weathering, volcanic activity, and the formation of fossil fuels. It regulates the long-term carbon balance on Earth, impacting climate change dynamics over centuries and beyond.</a:t>
            </a:r>
            <a:endParaRPr sz="2200">
              <a:solidFill>
                <a:srgbClr val="43434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5"/>
          <p:cNvSpPr txBox="1"/>
          <p:nvPr>
            <p:ph type="title"/>
          </p:nvPr>
        </p:nvSpPr>
        <p:spPr>
          <a:xfrm>
            <a:off x="311700" y="167775"/>
            <a:ext cx="86763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2600" u="sng"/>
              <a:t>Short-Term Carbon Cycle: Photosynthesis and Cellular Respiration (model)</a:t>
            </a:r>
            <a:endParaRPr b="1" sz="2100" u="sng"/>
          </a:p>
        </p:txBody>
      </p:sp>
      <p:sp>
        <p:nvSpPr>
          <p:cNvPr id="83" name="Google Shape;83;p5"/>
          <p:cNvSpPr txBox="1"/>
          <p:nvPr>
            <p:ph idx="1" type="body"/>
          </p:nvPr>
        </p:nvSpPr>
        <p:spPr>
          <a:xfrm>
            <a:off x="311700" y="1152475"/>
            <a:ext cx="8520600" cy="287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a:solidFill>
                  <a:srgbClr val="434343"/>
                </a:solidFill>
              </a:rPr>
              <a:t>Photosynthesis:</a:t>
            </a:r>
            <a:r>
              <a:rPr lang="en">
                <a:solidFill>
                  <a:srgbClr val="434343"/>
                </a:solidFill>
              </a:rPr>
              <a:t> Photosynthesis is the process by which plants convert sunlight, carbon dioxide, and water into glucose and oxygen.</a:t>
            </a:r>
            <a:endParaRPr>
              <a:solidFill>
                <a:srgbClr val="434343"/>
              </a:solidFill>
            </a:endParaRPr>
          </a:p>
          <a:p>
            <a:pPr indent="0" lvl="0" marL="0" rtl="0" algn="l">
              <a:lnSpc>
                <a:spcPct val="115000"/>
              </a:lnSpc>
              <a:spcBef>
                <a:spcPts val="1600"/>
              </a:spcBef>
              <a:spcAft>
                <a:spcPts val="0"/>
              </a:spcAft>
              <a:buSzPts val="1800"/>
              <a:buNone/>
            </a:pPr>
            <a:r>
              <a:rPr lang="en">
                <a:solidFill>
                  <a:srgbClr val="434343"/>
                </a:solidFill>
              </a:rPr>
              <a:t>Using the handout</a:t>
            </a:r>
            <a:r>
              <a:rPr lang="en">
                <a:solidFill>
                  <a:srgbClr val="434343"/>
                </a:solidFill>
              </a:rPr>
              <a:t>, </a:t>
            </a:r>
            <a:r>
              <a:rPr lang="en">
                <a:solidFill>
                  <a:srgbClr val="434343"/>
                </a:solidFill>
              </a:rPr>
              <a:t>draw a </a:t>
            </a:r>
            <a:r>
              <a:rPr b="1" lang="en">
                <a:solidFill>
                  <a:srgbClr val="434343"/>
                </a:solidFill>
              </a:rPr>
              <a:t>preliminary model</a:t>
            </a:r>
            <a:r>
              <a:rPr lang="en">
                <a:solidFill>
                  <a:srgbClr val="434343"/>
                </a:solidFill>
              </a:rPr>
              <a:t> that represent photosynthesis.</a:t>
            </a:r>
            <a:endParaRPr>
              <a:solidFill>
                <a:srgbClr val="434343"/>
              </a:solidFill>
            </a:endParaRPr>
          </a:p>
          <a:p>
            <a:pPr indent="0" lvl="0" marL="0" rtl="0" algn="l">
              <a:lnSpc>
                <a:spcPct val="115000"/>
              </a:lnSpc>
              <a:spcBef>
                <a:spcPts val="1600"/>
              </a:spcBef>
              <a:spcAft>
                <a:spcPts val="0"/>
              </a:spcAft>
              <a:buSzPts val="1800"/>
              <a:buNone/>
            </a:pPr>
            <a:r>
              <a:rPr lang="en">
                <a:solidFill>
                  <a:srgbClr val="434343"/>
                </a:solidFill>
              </a:rPr>
              <a:t>Watch the </a:t>
            </a:r>
            <a:r>
              <a:rPr lang="en" u="sng">
                <a:solidFill>
                  <a:schemeClr val="hlink"/>
                </a:solidFill>
                <a:hlinkClick r:id="rId3"/>
              </a:rPr>
              <a:t>video</a:t>
            </a:r>
            <a:r>
              <a:rPr lang="en">
                <a:solidFill>
                  <a:srgbClr val="434343"/>
                </a:solidFill>
              </a:rPr>
              <a:t> and refine your model.</a:t>
            </a:r>
            <a:endParaRPr>
              <a:solidFill>
                <a:srgbClr val="434343"/>
              </a:solidFill>
            </a:endParaRPr>
          </a:p>
          <a:p>
            <a:pPr indent="0" lvl="0" marL="0" rtl="0" algn="l">
              <a:lnSpc>
                <a:spcPct val="115000"/>
              </a:lnSpc>
              <a:spcBef>
                <a:spcPts val="1600"/>
              </a:spcBef>
              <a:spcAft>
                <a:spcPts val="0"/>
              </a:spcAft>
              <a:buSzPts val="1800"/>
              <a:buNone/>
            </a:pPr>
            <a:r>
              <a:rPr lang="en">
                <a:solidFill>
                  <a:srgbClr val="434343"/>
                </a:solidFill>
              </a:rPr>
              <a:t>Now watch this </a:t>
            </a:r>
            <a:r>
              <a:rPr lang="en" u="sng">
                <a:solidFill>
                  <a:schemeClr val="hlink"/>
                </a:solidFill>
                <a:hlinkClick r:id="rId4"/>
              </a:rPr>
              <a:t>video</a:t>
            </a:r>
            <a:r>
              <a:rPr lang="en">
                <a:solidFill>
                  <a:srgbClr val="434343"/>
                </a:solidFill>
              </a:rPr>
              <a:t> and write a paragraph explaining how to relate photosynthesis with cellular respiration.</a:t>
            </a:r>
            <a:endParaRPr>
              <a:solidFill>
                <a:srgbClr val="434343"/>
              </a:solidFill>
            </a:endParaRPr>
          </a:p>
          <a:p>
            <a:pPr indent="0" lvl="0" marL="0" rtl="0" algn="l">
              <a:lnSpc>
                <a:spcPct val="115000"/>
              </a:lnSpc>
              <a:spcBef>
                <a:spcPts val="1600"/>
              </a:spcBef>
              <a:spcAft>
                <a:spcPts val="0"/>
              </a:spcAft>
              <a:buSzPts val="1800"/>
              <a:buNone/>
            </a:pPr>
            <a:r>
              <a:rPr lang="en">
                <a:solidFill>
                  <a:srgbClr val="434343"/>
                </a:solidFill>
              </a:rPr>
              <a:t>Summary: The short-term carbon cycle involves the exchange of CO</a:t>
            </a:r>
            <a:r>
              <a:rPr baseline="-25000" lang="en">
                <a:solidFill>
                  <a:srgbClr val="434343"/>
                </a:solidFill>
              </a:rPr>
              <a:t>2</a:t>
            </a:r>
            <a:r>
              <a:rPr lang="en">
                <a:solidFill>
                  <a:srgbClr val="434343"/>
                </a:solidFill>
              </a:rPr>
              <a:t> between the atmosphere, land, and oceans through processes like photosynthesis and cellular respiration.</a:t>
            </a:r>
            <a:endParaRPr>
              <a:solidFill>
                <a:srgbClr val="434343"/>
              </a:solidFill>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6"/>
          <p:cNvSpPr txBox="1"/>
          <p:nvPr>
            <p:ph type="title"/>
          </p:nvPr>
        </p:nvSpPr>
        <p:spPr>
          <a:xfrm>
            <a:off x="311700" y="9455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2800"/>
              <a:buNone/>
            </a:pPr>
            <a:r>
              <a:rPr b="1" lang="en" sz="2900"/>
              <a:t>Long Term Carbon Cycle: </a:t>
            </a:r>
            <a:r>
              <a:rPr lang="en" sz="2600"/>
              <a:t>Cycling of Carbon activity</a:t>
            </a:r>
            <a:endParaRPr sz="2600"/>
          </a:p>
          <a:p>
            <a:pPr indent="0" lvl="0" marL="0" marR="0" rtl="0" algn="l">
              <a:lnSpc>
                <a:spcPct val="100000"/>
              </a:lnSpc>
              <a:spcBef>
                <a:spcPts val="0"/>
              </a:spcBef>
              <a:spcAft>
                <a:spcPts val="0"/>
              </a:spcAft>
              <a:buSzPts val="2800"/>
              <a:buNone/>
            </a:pPr>
            <a:r>
              <a:t/>
            </a:r>
            <a:endParaRPr b="1" sz="2900"/>
          </a:p>
        </p:txBody>
      </p:sp>
      <p:sp>
        <p:nvSpPr>
          <p:cNvPr id="89" name="Google Shape;89;p6"/>
          <p:cNvSpPr txBox="1"/>
          <p:nvPr>
            <p:ph idx="1" type="body"/>
          </p:nvPr>
        </p:nvSpPr>
        <p:spPr>
          <a:xfrm>
            <a:off x="100875" y="648150"/>
            <a:ext cx="8520600" cy="1400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SzPts val="1800"/>
              <a:buNone/>
            </a:pPr>
            <a:r>
              <a:rPr lang="en">
                <a:solidFill>
                  <a:srgbClr val="434343"/>
                </a:solidFill>
              </a:rPr>
              <a:t>Using PBS Learning: Carbon Dioxide and the Carbon Cycle</a:t>
            </a:r>
            <a:endParaRPr>
              <a:solidFill>
                <a:srgbClr val="434343"/>
              </a:solidFill>
            </a:endParaRPr>
          </a:p>
          <a:p>
            <a:pPr indent="-342900" lvl="0" marL="457200" marR="0" rtl="0" algn="l">
              <a:lnSpc>
                <a:spcPct val="115000"/>
              </a:lnSpc>
              <a:spcBef>
                <a:spcPts val="1600"/>
              </a:spcBef>
              <a:spcAft>
                <a:spcPts val="0"/>
              </a:spcAft>
              <a:buClr>
                <a:srgbClr val="434343"/>
              </a:buClr>
              <a:buSzPts val="1800"/>
              <a:buAutoNum type="arabicPeriod"/>
            </a:pPr>
            <a:r>
              <a:rPr lang="en">
                <a:solidFill>
                  <a:srgbClr val="434343"/>
                </a:solidFill>
              </a:rPr>
              <a:t>Follow this </a:t>
            </a:r>
            <a:r>
              <a:rPr lang="en" u="sng">
                <a:solidFill>
                  <a:schemeClr val="hlink"/>
                </a:solidFill>
                <a:hlinkClick r:id="rId3"/>
              </a:rPr>
              <a:t>link</a:t>
            </a:r>
            <a:r>
              <a:rPr lang="en">
                <a:solidFill>
                  <a:srgbClr val="434343"/>
                </a:solidFill>
              </a:rPr>
              <a:t> </a:t>
            </a:r>
            <a:r>
              <a:rPr lang="en">
                <a:solidFill>
                  <a:srgbClr val="434343"/>
                </a:solidFill>
              </a:rPr>
              <a:t>to open an interactive carbon cycle model. Complete the table below about Carbon Cycle Reservoirs by clicking on the each blue tab</a:t>
            </a:r>
            <a:endParaRPr sz="900">
              <a:solidFill>
                <a:srgbClr val="434343"/>
              </a:solidFill>
              <a:highlight>
                <a:srgbClr val="FFFFFF"/>
              </a:highlight>
            </a:endParaRPr>
          </a:p>
          <a:p>
            <a:pPr indent="0" lvl="0" marL="0" marR="0" rtl="0" algn="l">
              <a:lnSpc>
                <a:spcPct val="115000"/>
              </a:lnSpc>
              <a:spcBef>
                <a:spcPts val="1600"/>
              </a:spcBef>
              <a:spcAft>
                <a:spcPts val="1600"/>
              </a:spcAft>
              <a:buSzPts val="1800"/>
              <a:buNone/>
            </a:pPr>
            <a:r>
              <a:t/>
            </a:r>
            <a:endParaRPr/>
          </a:p>
        </p:txBody>
      </p:sp>
      <p:graphicFrame>
        <p:nvGraphicFramePr>
          <p:cNvPr id="90" name="Google Shape;90;p6"/>
          <p:cNvGraphicFramePr/>
          <p:nvPr/>
        </p:nvGraphicFramePr>
        <p:xfrm>
          <a:off x="579313" y="2004350"/>
          <a:ext cx="3000000" cy="3000000"/>
        </p:xfrm>
        <a:graphic>
          <a:graphicData uri="http://schemas.openxmlformats.org/drawingml/2006/table">
            <a:tbl>
              <a:tblPr>
                <a:noFill/>
                <a:tableStyleId>{C9B5B29D-D56E-4CC4-ABCD-351C8510D393}</a:tableStyleId>
              </a:tblPr>
              <a:tblGrid>
                <a:gridCol w="1316750"/>
                <a:gridCol w="1766075"/>
                <a:gridCol w="3910350"/>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rgbClr val="191C1F"/>
                          </a:solidFill>
                          <a:highlight>
                            <a:srgbClr val="FFFFFF"/>
                          </a:highlight>
                        </a:rPr>
                        <a:t>How many gigatons of carbon are in this reservoir?</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rgbClr val="191C1F"/>
                          </a:solidFill>
                          <a:highlight>
                            <a:srgbClr val="FFFFFF"/>
                          </a:highlight>
                        </a:rPr>
                        <a:t>Explain what this reservoir is.</a:t>
                      </a:r>
                      <a:endParaRPr sz="1400" u="none" cap="none" strike="noStrike"/>
                    </a:p>
                  </a:txBody>
                  <a:tcPr marT="91425" marB="91425" marR="91425" marL="91425"/>
                </a:tc>
              </a:tr>
              <a:tr h="4057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Fossil fuel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74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Ocean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Atmosphere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Land Biomass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Rocks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7"/>
          <p:cNvSpPr txBox="1"/>
          <p:nvPr>
            <p:ph idx="1" type="body"/>
          </p:nvPr>
        </p:nvSpPr>
        <p:spPr>
          <a:xfrm>
            <a:off x="130075" y="386750"/>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spcBef>
                <a:spcPts val="1200"/>
              </a:spcBef>
              <a:spcAft>
                <a:spcPts val="0"/>
              </a:spcAft>
              <a:buClr>
                <a:schemeClr val="dk1"/>
              </a:buClr>
              <a:buSzPts val="1800"/>
              <a:buAutoNum type="arabicPeriod" startAt="2"/>
            </a:pPr>
            <a:r>
              <a:rPr lang="en">
                <a:solidFill>
                  <a:schemeClr val="dk1"/>
                </a:solidFill>
              </a:rPr>
              <a:t>Access the interactive model and navigate to the "CO2 and the Atmosphere" tab. </a:t>
            </a:r>
            <a:endParaRPr>
              <a:solidFill>
                <a:schemeClr val="dk1"/>
              </a:solidFill>
            </a:endParaRPr>
          </a:p>
          <a:p>
            <a:pPr indent="-317500" lvl="1" marL="914400" rtl="0" algn="l">
              <a:spcBef>
                <a:spcPts val="1200"/>
              </a:spcBef>
              <a:spcAft>
                <a:spcPts val="0"/>
              </a:spcAft>
              <a:buSzPts val="1400"/>
              <a:buAutoNum type="alphaLcPeriod"/>
            </a:pPr>
            <a:r>
              <a:rPr lang="en"/>
              <a:t>Observe the image and the accompanying information it contains. Then, select the "Present Day" option to explore the updated information. Describe the differences between 300 years ago and today according to the image.</a:t>
            </a:r>
            <a:endParaRPr/>
          </a:p>
          <a:p>
            <a:pPr indent="-317500" lvl="1" marL="914400" rtl="0" algn="l">
              <a:spcBef>
                <a:spcPts val="1200"/>
              </a:spcBef>
              <a:spcAft>
                <a:spcPts val="0"/>
              </a:spcAft>
              <a:buSzPts val="1400"/>
              <a:buAutoNum type="alphaLcPeriod"/>
            </a:pPr>
            <a:r>
              <a:rPr lang="en"/>
              <a:t>After selecting the "View Chart" option on the right-hand side, you can see that three centuries ago the inflow of CO2 into the atmosphere was balanced by the outflow of CO2 from the atmosphere. Now, click “Present Day” and review the information on the chart. Answer the following questions:</a:t>
            </a:r>
            <a:endParaRPr/>
          </a:p>
          <a:p>
            <a:pPr indent="-317500" lvl="2" marL="1371600" rtl="0" algn="l">
              <a:lnSpc>
                <a:spcPct val="115000"/>
              </a:lnSpc>
              <a:spcBef>
                <a:spcPts val="0"/>
              </a:spcBef>
              <a:spcAft>
                <a:spcPts val="0"/>
              </a:spcAft>
              <a:buSzPts val="1400"/>
              <a:buAutoNum type="romanLcPeriod"/>
            </a:pPr>
            <a:r>
              <a:rPr lang="en"/>
              <a:t>How many gigatons of CO</a:t>
            </a:r>
            <a:r>
              <a:rPr baseline="-25000" lang="en"/>
              <a:t>2</a:t>
            </a:r>
            <a:r>
              <a:rPr lang="en"/>
              <a:t> go into the atmosphere from human activity annually?</a:t>
            </a:r>
            <a:endParaRPr/>
          </a:p>
          <a:p>
            <a:pPr indent="-317500" lvl="2" marL="1371600" rtl="0" algn="l">
              <a:spcBef>
                <a:spcPts val="0"/>
              </a:spcBef>
              <a:spcAft>
                <a:spcPts val="0"/>
              </a:spcAft>
              <a:buSzPts val="1400"/>
              <a:buAutoNum type="romanLcPeriod"/>
            </a:pPr>
            <a:r>
              <a:rPr lang="en"/>
              <a:t>How many gigatons does CO2 increase in the atmosphere each year? </a:t>
            </a:r>
            <a:endParaRPr/>
          </a:p>
          <a:p>
            <a:pPr indent="0" lvl="0" marL="914400" rtl="0" algn="l">
              <a:lnSpc>
                <a:spcPct val="115000"/>
              </a:lnSpc>
              <a:spcBef>
                <a:spcPts val="2100"/>
              </a:spcBef>
              <a:spcAft>
                <a:spcPts val="2100"/>
              </a:spcAft>
              <a:buSzPts val="1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8"/>
          <p:cNvSpPr txBox="1"/>
          <p:nvPr>
            <p:ph type="title"/>
          </p:nvPr>
        </p:nvSpPr>
        <p:spPr>
          <a:xfrm>
            <a:off x="311700" y="1576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3300">
                <a:solidFill>
                  <a:srgbClr val="FF0000"/>
                </a:solidFill>
              </a:rPr>
              <a:t>3. Measuring CO</a:t>
            </a:r>
            <a:r>
              <a:rPr b="1" baseline="-25000" lang="en" sz="3300">
                <a:solidFill>
                  <a:srgbClr val="FF0000"/>
                </a:solidFill>
              </a:rPr>
              <a:t>2</a:t>
            </a:r>
            <a:r>
              <a:rPr b="1" lang="en" sz="3300">
                <a:solidFill>
                  <a:srgbClr val="FF0000"/>
                </a:solidFill>
              </a:rPr>
              <a:t> in the atmosphere</a:t>
            </a:r>
            <a:endParaRPr/>
          </a:p>
          <a:p>
            <a:pPr indent="0" lvl="0" marL="0" rtl="0" algn="l">
              <a:lnSpc>
                <a:spcPct val="100000"/>
              </a:lnSpc>
              <a:spcBef>
                <a:spcPts val="0"/>
              </a:spcBef>
              <a:spcAft>
                <a:spcPts val="0"/>
              </a:spcAft>
              <a:buSzPts val="2800"/>
              <a:buNone/>
            </a:pPr>
            <a:r>
              <a:t/>
            </a:r>
            <a:endParaRPr/>
          </a:p>
          <a:p>
            <a:pPr indent="0" lvl="0" marL="0" rtl="0" algn="l">
              <a:lnSpc>
                <a:spcPct val="100000"/>
              </a:lnSpc>
              <a:spcBef>
                <a:spcPts val="0"/>
              </a:spcBef>
              <a:spcAft>
                <a:spcPts val="0"/>
              </a:spcAft>
              <a:buSzPts val="2800"/>
              <a:buNone/>
            </a:pPr>
            <a:r>
              <a:t/>
            </a:r>
            <a:endParaRPr/>
          </a:p>
        </p:txBody>
      </p:sp>
      <p:sp>
        <p:nvSpPr>
          <p:cNvPr id="101" name="Google Shape;101;p8"/>
          <p:cNvSpPr txBox="1"/>
          <p:nvPr>
            <p:ph idx="1" type="body"/>
          </p:nvPr>
        </p:nvSpPr>
        <p:spPr>
          <a:xfrm>
            <a:off x="113100" y="654150"/>
            <a:ext cx="89178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SzPts val="1800"/>
              <a:buNone/>
            </a:pPr>
            <a:r>
              <a:rPr lang="en" sz="2400">
                <a:solidFill>
                  <a:schemeClr val="dk1"/>
                </a:solidFill>
              </a:rPr>
              <a:t>Why is it important to measure CO</a:t>
            </a:r>
            <a:r>
              <a:rPr baseline="-25000" lang="en" sz="2400">
                <a:solidFill>
                  <a:schemeClr val="dk1"/>
                </a:solidFill>
              </a:rPr>
              <a:t>2</a:t>
            </a:r>
            <a:r>
              <a:rPr lang="en" sz="2400">
                <a:solidFill>
                  <a:schemeClr val="dk1"/>
                </a:solidFill>
              </a:rPr>
              <a:t>?</a:t>
            </a:r>
            <a:endParaRPr sz="2400">
              <a:solidFill>
                <a:schemeClr val="dk1"/>
              </a:solidFill>
            </a:endParaRPr>
          </a:p>
          <a:p>
            <a:pPr indent="0" lvl="0" marL="0" marR="0" rtl="0" algn="l">
              <a:lnSpc>
                <a:spcPct val="115000"/>
              </a:lnSpc>
              <a:spcBef>
                <a:spcPts val="1600"/>
              </a:spcBef>
              <a:spcAft>
                <a:spcPts val="0"/>
              </a:spcAft>
              <a:buSzPts val="1800"/>
              <a:buNone/>
            </a:pPr>
            <a:r>
              <a:rPr lang="en" sz="2000"/>
              <a:t>Measuring CO</a:t>
            </a:r>
            <a:r>
              <a:rPr baseline="-25000" lang="en" sz="2000"/>
              <a:t>2 </a:t>
            </a:r>
            <a:r>
              <a:rPr lang="en" sz="2000"/>
              <a:t>in the atmosphere is vital to comprehend climate change, evaluate human impacts, guide mitigation strategies, predict climate patterns, and understand its role in photosynthesis and ecosystem dynamics.</a:t>
            </a:r>
            <a:endParaRPr sz="2000"/>
          </a:p>
          <a:p>
            <a:pPr indent="0" lvl="0" marL="0" rtl="0" algn="l">
              <a:lnSpc>
                <a:spcPct val="100000"/>
              </a:lnSpc>
              <a:spcBef>
                <a:spcPts val="1600"/>
              </a:spcBef>
              <a:spcAft>
                <a:spcPts val="0"/>
              </a:spcAft>
              <a:buSzPts val="1800"/>
              <a:buNone/>
            </a:pPr>
            <a:r>
              <a:rPr lang="en" sz="2400">
                <a:solidFill>
                  <a:schemeClr val="dk1"/>
                </a:solidFill>
              </a:rPr>
              <a:t>How can we measure and monitor CO</a:t>
            </a:r>
            <a:r>
              <a:rPr baseline="-25000" lang="en" sz="2400">
                <a:solidFill>
                  <a:schemeClr val="dk1"/>
                </a:solidFill>
              </a:rPr>
              <a:t>2 </a:t>
            </a:r>
            <a:r>
              <a:rPr lang="en" sz="2400">
                <a:solidFill>
                  <a:schemeClr val="dk1"/>
                </a:solidFill>
              </a:rPr>
              <a:t> in the atmosphere?</a:t>
            </a:r>
            <a:endParaRPr sz="2400">
              <a:solidFill>
                <a:schemeClr val="dk1"/>
              </a:solidFill>
            </a:endParaRPr>
          </a:p>
          <a:p>
            <a:pPr indent="0" lvl="0" marL="0" marR="0" rtl="0" algn="l">
              <a:lnSpc>
                <a:spcPct val="115000"/>
              </a:lnSpc>
              <a:spcBef>
                <a:spcPts val="0"/>
              </a:spcBef>
              <a:spcAft>
                <a:spcPts val="0"/>
              </a:spcAft>
              <a:buSzPts val="1800"/>
              <a:buNone/>
            </a:pPr>
            <a:r>
              <a:t/>
            </a:r>
            <a:endParaRPr sz="500"/>
          </a:p>
          <a:p>
            <a:pPr indent="0" lvl="0" marL="0" marR="0" rtl="0" algn="l">
              <a:lnSpc>
                <a:spcPct val="115000"/>
              </a:lnSpc>
              <a:spcBef>
                <a:spcPts val="0"/>
              </a:spcBef>
              <a:spcAft>
                <a:spcPts val="0"/>
              </a:spcAft>
              <a:buSzPts val="1800"/>
              <a:buNone/>
            </a:pPr>
            <a:r>
              <a:t/>
            </a:r>
            <a:endParaRPr sz="500"/>
          </a:p>
          <a:p>
            <a:pPr indent="0" lvl="0" marL="0" marR="0" rtl="0" algn="l">
              <a:lnSpc>
                <a:spcPct val="115000"/>
              </a:lnSpc>
              <a:spcBef>
                <a:spcPts val="0"/>
              </a:spcBef>
              <a:spcAft>
                <a:spcPts val="0"/>
              </a:spcAft>
              <a:buSzPts val="1800"/>
              <a:buNone/>
            </a:pPr>
            <a:r>
              <a:rPr lang="en" sz="1900"/>
              <a:t>CO</a:t>
            </a:r>
            <a:r>
              <a:rPr baseline="-25000" lang="en" sz="1900"/>
              <a:t>2 </a:t>
            </a:r>
            <a:r>
              <a:rPr lang="en" sz="1900"/>
              <a:t>in the atmosphere can be measured using various methods such as gas analyzers, satellite observations, and air sampling. Also, it can be monitored  by using greenhouse gas (GHG) sensors which  provides crucial insights into environmental conditions, helping to understand climate change dynamics and inform decision-making for mitigation efforts and air quality management.</a:t>
            </a:r>
            <a:endParaRPr sz="1900"/>
          </a:p>
          <a:p>
            <a:pPr indent="0" lvl="0" marL="0" marR="0" rtl="0" algn="l">
              <a:lnSpc>
                <a:spcPct val="115000"/>
              </a:lnSpc>
              <a:spcBef>
                <a:spcPts val="0"/>
              </a:spcBef>
              <a:spcAft>
                <a:spcPts val="0"/>
              </a:spcAft>
              <a:buSzPts val="1800"/>
              <a:buNone/>
            </a:pPr>
            <a:r>
              <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9"/>
          <p:cNvSpPr txBox="1"/>
          <p:nvPr>
            <p:ph type="title"/>
          </p:nvPr>
        </p:nvSpPr>
        <p:spPr>
          <a:xfrm>
            <a:off x="311700" y="1713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600"/>
              <a:t>Observing Patterns in: “Watching Earth Breathe”</a:t>
            </a:r>
            <a:endParaRPr sz="2600"/>
          </a:p>
        </p:txBody>
      </p:sp>
      <p:sp>
        <p:nvSpPr>
          <p:cNvPr id="107" name="Google Shape;107;p9"/>
          <p:cNvSpPr txBox="1"/>
          <p:nvPr>
            <p:ph idx="1" type="body"/>
          </p:nvPr>
        </p:nvSpPr>
        <p:spPr>
          <a:xfrm>
            <a:off x="311700" y="1005600"/>
            <a:ext cx="5935500" cy="413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000">
                <a:solidFill>
                  <a:schemeClr val="dk1"/>
                </a:solidFill>
              </a:rPr>
              <a:t>As you watch the </a:t>
            </a:r>
            <a:r>
              <a:rPr lang="en" sz="2000" u="sng">
                <a:solidFill>
                  <a:schemeClr val="hlink"/>
                </a:solidFill>
                <a:hlinkClick r:id="rId3"/>
              </a:rPr>
              <a:t>video,</a:t>
            </a:r>
            <a:r>
              <a:rPr lang="en" sz="2000">
                <a:solidFill>
                  <a:schemeClr val="dk1"/>
                </a:solidFill>
              </a:rPr>
              <a:t> you will answer the following questions:</a:t>
            </a:r>
            <a:endParaRPr sz="2000">
              <a:solidFill>
                <a:schemeClr val="dk1"/>
              </a:solidFill>
            </a:endParaRPr>
          </a:p>
          <a:p>
            <a:pPr indent="-336550" lvl="0" marL="457200" rtl="0" algn="l">
              <a:lnSpc>
                <a:spcPct val="115000"/>
              </a:lnSpc>
              <a:spcBef>
                <a:spcPts val="1600"/>
              </a:spcBef>
              <a:spcAft>
                <a:spcPts val="0"/>
              </a:spcAft>
              <a:buClr>
                <a:srgbClr val="434343"/>
              </a:buClr>
              <a:buSzPts val="1700"/>
              <a:buAutoNum type="arabicPeriod"/>
            </a:pPr>
            <a:r>
              <a:rPr lang="en" sz="1700">
                <a:solidFill>
                  <a:srgbClr val="434343"/>
                </a:solidFill>
              </a:rPr>
              <a:t>In this video, how does NASA measure CO</a:t>
            </a:r>
            <a:r>
              <a:rPr baseline="-25000" lang="en" sz="1700">
                <a:solidFill>
                  <a:srgbClr val="434343"/>
                </a:solidFill>
              </a:rPr>
              <a:t>2</a:t>
            </a:r>
            <a:r>
              <a:rPr lang="en" sz="1700">
                <a:solidFill>
                  <a:srgbClr val="434343"/>
                </a:solidFill>
              </a:rPr>
              <a:t> concentrations?</a:t>
            </a:r>
            <a:endParaRPr sz="1700">
              <a:solidFill>
                <a:srgbClr val="434343"/>
              </a:solidFill>
            </a:endParaRPr>
          </a:p>
          <a:p>
            <a:pPr indent="-336550" lvl="0" marL="457200" rtl="0" algn="l">
              <a:spcBef>
                <a:spcPts val="0"/>
              </a:spcBef>
              <a:spcAft>
                <a:spcPts val="0"/>
              </a:spcAft>
              <a:buClr>
                <a:srgbClr val="434343"/>
              </a:buClr>
              <a:buSzPts val="1700"/>
              <a:buAutoNum type="arabicPeriod"/>
            </a:pPr>
            <a:r>
              <a:rPr lang="en" sz="1700">
                <a:solidFill>
                  <a:srgbClr val="434343"/>
                </a:solidFill>
              </a:rPr>
              <a:t>In general, which hemisphere experiences a greater change in CO</a:t>
            </a:r>
            <a:r>
              <a:rPr baseline="-25000" lang="en" sz="1700">
                <a:solidFill>
                  <a:srgbClr val="434343"/>
                </a:solidFill>
              </a:rPr>
              <a:t>2</a:t>
            </a:r>
            <a:r>
              <a:rPr lang="en" sz="1700">
                <a:solidFill>
                  <a:srgbClr val="434343"/>
                </a:solidFill>
              </a:rPr>
              <a:t> levels throughout the year: the Northern or Southern hemispheres?</a:t>
            </a:r>
            <a:endParaRPr sz="1700">
              <a:solidFill>
                <a:srgbClr val="434343"/>
              </a:solidFill>
            </a:endParaRPr>
          </a:p>
          <a:p>
            <a:pPr indent="-336550" lvl="0" marL="457200" rtl="0" algn="l">
              <a:spcBef>
                <a:spcPts val="0"/>
              </a:spcBef>
              <a:spcAft>
                <a:spcPts val="0"/>
              </a:spcAft>
              <a:buClr>
                <a:srgbClr val="434343"/>
              </a:buClr>
              <a:buSzPts val="1700"/>
              <a:buAutoNum type="arabicPeriod"/>
            </a:pPr>
            <a:r>
              <a:rPr lang="en" sz="1700">
                <a:solidFill>
                  <a:srgbClr val="434343"/>
                </a:solidFill>
              </a:rPr>
              <a:t>Is the video of watching Earth breathe related to the short-term carbon cycle or long-term carbon cycle?</a:t>
            </a:r>
            <a:endParaRPr sz="1700">
              <a:solidFill>
                <a:srgbClr val="434343"/>
              </a:solidFill>
            </a:endParaRPr>
          </a:p>
          <a:p>
            <a:pPr indent="-336550" lvl="0" marL="457200" rtl="0" algn="l">
              <a:spcBef>
                <a:spcPts val="0"/>
              </a:spcBef>
              <a:spcAft>
                <a:spcPts val="0"/>
              </a:spcAft>
              <a:buClr>
                <a:srgbClr val="434343"/>
              </a:buClr>
              <a:buSzPts val="1700"/>
              <a:buAutoNum type="arabicPeriod"/>
            </a:pPr>
            <a:r>
              <a:rPr lang="en" sz="1700">
                <a:solidFill>
                  <a:srgbClr val="434343"/>
                </a:solidFill>
              </a:rPr>
              <a:t>Explain the patterns you observe in the video as they relate to CO</a:t>
            </a:r>
            <a:r>
              <a:rPr baseline="-25000" lang="en" sz="1700">
                <a:solidFill>
                  <a:srgbClr val="434343"/>
                </a:solidFill>
              </a:rPr>
              <a:t>2</a:t>
            </a:r>
            <a:r>
              <a:rPr lang="en" sz="1700">
                <a:solidFill>
                  <a:srgbClr val="434343"/>
                </a:solidFill>
              </a:rPr>
              <a:t> and photosynthesis.</a:t>
            </a:r>
            <a:endParaRPr sz="1700">
              <a:solidFill>
                <a:srgbClr val="434343"/>
              </a:solidFill>
            </a:endParaRPr>
          </a:p>
          <a:p>
            <a:pPr indent="0" lvl="0" marL="0" rtl="0" algn="l">
              <a:lnSpc>
                <a:spcPct val="115000"/>
              </a:lnSpc>
              <a:spcBef>
                <a:spcPts val="0"/>
              </a:spcBef>
              <a:spcAft>
                <a:spcPts val="0"/>
              </a:spcAft>
              <a:buNone/>
            </a:pPr>
            <a:r>
              <a:t/>
            </a:r>
            <a:endParaRPr sz="1700">
              <a:solidFill>
                <a:schemeClr val="dk1"/>
              </a:solidFill>
            </a:endParaRPr>
          </a:p>
        </p:txBody>
      </p:sp>
      <p:pic>
        <p:nvPicPr>
          <p:cNvPr descr="Carbon dioxide is a naturally occurring gas in our atmosphere. View the seasonal cycle of carbon dioxide and the increase of carbon dioxide every year due to human activity. - 11/28/2012 - 01:58&#10;&#10;Credit: Courtesy NASA/JPL-Caltech" id="108" name="Google Shape;108;p9" title="Watching Earth Breathe the Seasonal Vegetation Cycle and Carbon Dioxide">
            <a:hlinkClick r:id="rId4"/>
          </p:cNvPr>
          <p:cNvPicPr preferRelativeResize="0"/>
          <p:nvPr/>
        </p:nvPicPr>
        <p:blipFill rotWithShape="1">
          <a:blip r:embed="rId5">
            <a:alphaModFix/>
          </a:blip>
          <a:srcRect b="0" l="0" r="0" t="0"/>
          <a:stretch/>
        </p:blipFill>
        <p:spPr>
          <a:xfrm>
            <a:off x="6294694" y="2168450"/>
            <a:ext cx="2678755" cy="150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4"/>
          <p:cNvSpPr txBox="1"/>
          <p:nvPr>
            <p:ph type="title"/>
          </p:nvPr>
        </p:nvSpPr>
        <p:spPr>
          <a:xfrm>
            <a:off x="251238" y="2362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2200">
                <a:solidFill>
                  <a:srgbClr val="FF0000"/>
                </a:solidFill>
              </a:rPr>
              <a:t>4. </a:t>
            </a:r>
            <a:r>
              <a:rPr b="1" lang="en" sz="2200">
                <a:solidFill>
                  <a:srgbClr val="FF0000"/>
                </a:solidFill>
              </a:rPr>
              <a:t>Applying this lesson to the Initial Phenomenon (Biosphere 2 Experiment)</a:t>
            </a:r>
            <a:endParaRPr b="1" sz="1800"/>
          </a:p>
          <a:p>
            <a:pPr indent="0" lvl="0" marL="0" rtl="0" algn="l">
              <a:lnSpc>
                <a:spcPct val="100000"/>
              </a:lnSpc>
              <a:spcBef>
                <a:spcPts val="0"/>
              </a:spcBef>
              <a:spcAft>
                <a:spcPts val="0"/>
              </a:spcAft>
              <a:buSzPts val="2800"/>
              <a:buNone/>
            </a:pPr>
            <a:r>
              <a:t/>
            </a:r>
            <a:endParaRPr b="1" sz="2900"/>
          </a:p>
          <a:p>
            <a:pPr indent="0" lvl="0" marL="0" rtl="0" algn="l">
              <a:lnSpc>
                <a:spcPct val="100000"/>
              </a:lnSpc>
              <a:spcBef>
                <a:spcPts val="0"/>
              </a:spcBef>
              <a:spcAft>
                <a:spcPts val="0"/>
              </a:spcAft>
              <a:buClr>
                <a:schemeClr val="dk1"/>
              </a:buClr>
              <a:buSzPts val="1100"/>
              <a:buFont typeface="Arial"/>
              <a:buNone/>
            </a:pPr>
            <a:r>
              <a:t/>
            </a:r>
            <a:endParaRPr b="1" sz="2900"/>
          </a:p>
          <a:p>
            <a:pPr indent="0" lvl="0" marL="0" rtl="0" algn="l">
              <a:lnSpc>
                <a:spcPct val="100000"/>
              </a:lnSpc>
              <a:spcBef>
                <a:spcPts val="0"/>
              </a:spcBef>
              <a:spcAft>
                <a:spcPts val="0"/>
              </a:spcAft>
              <a:buSzPts val="2800"/>
              <a:buNone/>
            </a:pPr>
            <a:r>
              <a:t/>
            </a:r>
            <a:endParaRPr/>
          </a:p>
        </p:txBody>
      </p:sp>
      <p:sp>
        <p:nvSpPr>
          <p:cNvPr id="114" name="Google Shape;114;p14"/>
          <p:cNvSpPr txBox="1"/>
          <p:nvPr>
            <p:ph idx="1" type="body"/>
          </p:nvPr>
        </p:nvSpPr>
        <p:spPr>
          <a:xfrm>
            <a:off x="223925" y="1055975"/>
            <a:ext cx="8520600" cy="3416400"/>
          </a:xfrm>
          <a:prstGeom prst="rect">
            <a:avLst/>
          </a:prstGeom>
          <a:noFill/>
          <a:ln>
            <a:noFill/>
          </a:ln>
        </p:spPr>
        <p:txBody>
          <a:bodyPr anchorCtr="0" anchor="t" bIns="91425" lIns="91425" spcFirstLastPara="1" rIns="91425" wrap="square" tIns="91425">
            <a:noAutofit/>
          </a:bodyPr>
          <a:lstStyle/>
          <a:p>
            <a:pPr indent="-336550" lvl="0" marL="457200" marR="38100" rtl="0" algn="l">
              <a:lnSpc>
                <a:spcPct val="115000"/>
              </a:lnSpc>
              <a:spcBef>
                <a:spcPts val="0"/>
              </a:spcBef>
              <a:spcAft>
                <a:spcPts val="0"/>
              </a:spcAft>
              <a:buClr>
                <a:schemeClr val="dk1"/>
              </a:buClr>
              <a:buSzPts val="1700"/>
              <a:buAutoNum type="arabicPeriod"/>
            </a:pPr>
            <a:r>
              <a:rPr lang="en" sz="1700">
                <a:solidFill>
                  <a:schemeClr val="dk1"/>
                </a:solidFill>
              </a:rPr>
              <a:t>Use what you have learned to improve your response from Page 1 Q2 on the handout:  What would plants and animals need to survive in a closed space like Biosphere 2?</a:t>
            </a:r>
            <a:endParaRPr sz="1700">
              <a:solidFill>
                <a:schemeClr val="dk1"/>
              </a:solidFill>
            </a:endParaRPr>
          </a:p>
          <a:p>
            <a:pPr indent="0" lvl="0" marL="457200" marR="38100" rtl="0" algn="l">
              <a:lnSpc>
                <a:spcPct val="115000"/>
              </a:lnSpc>
              <a:spcBef>
                <a:spcPts val="0"/>
              </a:spcBef>
              <a:spcAft>
                <a:spcPts val="0"/>
              </a:spcAft>
              <a:buSzPts val="1800"/>
              <a:buNone/>
            </a:pPr>
            <a:r>
              <a:t/>
            </a:r>
            <a:endParaRPr sz="1000">
              <a:solidFill>
                <a:schemeClr val="dk1"/>
              </a:solidFill>
            </a:endParaRPr>
          </a:p>
          <a:p>
            <a:pPr indent="-336550" lvl="0" marL="457200" marR="38100" rtl="0" algn="l">
              <a:lnSpc>
                <a:spcPct val="115000"/>
              </a:lnSpc>
              <a:spcBef>
                <a:spcPts val="0"/>
              </a:spcBef>
              <a:spcAft>
                <a:spcPts val="0"/>
              </a:spcAft>
              <a:buClr>
                <a:schemeClr val="dk1"/>
              </a:buClr>
              <a:buSzPts val="1700"/>
              <a:buAutoNum type="arabicPeriod"/>
            </a:pPr>
            <a:r>
              <a:rPr lang="en" sz="1700">
                <a:solidFill>
                  <a:schemeClr val="dk1"/>
                </a:solidFill>
              </a:rPr>
              <a:t>Is Biosphere 2 an example of a short-term or long-term carbon cycle?</a:t>
            </a:r>
            <a:endParaRPr sz="1700">
              <a:solidFill>
                <a:schemeClr val="dk1"/>
              </a:solidFill>
            </a:endParaRPr>
          </a:p>
          <a:p>
            <a:pPr indent="0" lvl="0" marL="457200" marR="38100" rtl="0" algn="l">
              <a:lnSpc>
                <a:spcPct val="115000"/>
              </a:lnSpc>
              <a:spcBef>
                <a:spcPts val="0"/>
              </a:spcBef>
              <a:spcAft>
                <a:spcPts val="0"/>
              </a:spcAft>
              <a:buSzPts val="1800"/>
              <a:buNone/>
            </a:pPr>
            <a:r>
              <a:t/>
            </a:r>
            <a:endParaRPr sz="1000">
              <a:solidFill>
                <a:schemeClr val="dk1"/>
              </a:solidFill>
            </a:endParaRPr>
          </a:p>
          <a:p>
            <a:pPr indent="-336550" lvl="0" marL="457200" marR="38100" rtl="0" algn="l">
              <a:spcBef>
                <a:spcPts val="0"/>
              </a:spcBef>
              <a:spcAft>
                <a:spcPts val="0"/>
              </a:spcAft>
              <a:buClr>
                <a:schemeClr val="dk1"/>
              </a:buClr>
              <a:buSzPts val="1700"/>
              <a:buAutoNum type="arabicPeriod"/>
            </a:pPr>
            <a:r>
              <a:rPr lang="en" sz="1700">
                <a:solidFill>
                  <a:schemeClr val="dk1"/>
                </a:solidFill>
              </a:rPr>
              <a:t>Look at your multiyear CO2 time-series plot that you created in the Exploration Google Colab notebook (pasted in the Handout as well). This plot is for California. In the graph below, sketch the curve that you’d expect if you were monitoring CO2 in Buenos Aires (and include estimate x and y values).</a:t>
            </a:r>
            <a:endParaRPr sz="1700">
              <a:solidFill>
                <a:schemeClr val="dk1"/>
              </a:solidFill>
            </a:endParaRPr>
          </a:p>
          <a:p>
            <a:pPr indent="0" lvl="0" marL="0" marR="38100" rtl="0" algn="l">
              <a:spcBef>
                <a:spcPts val="0"/>
              </a:spcBef>
              <a:spcAft>
                <a:spcPts val="0"/>
              </a:spcAft>
              <a:buNone/>
            </a:pPr>
            <a:r>
              <a:t/>
            </a:r>
            <a:endParaRPr sz="1700">
              <a:solidFill>
                <a:schemeClr val="dk1"/>
              </a:solidFill>
            </a:endParaRPr>
          </a:p>
          <a:p>
            <a:pPr indent="0" lvl="0" marL="457200" marR="38100" rtl="0" algn="l">
              <a:lnSpc>
                <a:spcPct val="115000"/>
              </a:lnSpc>
              <a:spcBef>
                <a:spcPts val="0"/>
              </a:spcBef>
              <a:spcAft>
                <a:spcPts val="0"/>
              </a:spcAft>
              <a:buSzPts val="1800"/>
              <a:buNone/>
            </a:pPr>
            <a:r>
              <a:t/>
            </a:r>
            <a:endParaRPr>
              <a:solidFill>
                <a:schemeClr val="dk1"/>
              </a:solidFill>
            </a:endParaRPr>
          </a:p>
        </p:txBody>
      </p:sp>
      <p:pic>
        <p:nvPicPr>
          <p:cNvPr id="115" name="Google Shape;115;p14"/>
          <p:cNvPicPr preferRelativeResize="0"/>
          <p:nvPr/>
        </p:nvPicPr>
        <p:blipFill>
          <a:blip r:embed="rId3">
            <a:alphaModFix/>
          </a:blip>
          <a:stretch>
            <a:fillRect/>
          </a:stretch>
        </p:blipFill>
        <p:spPr>
          <a:xfrm>
            <a:off x="6069350" y="3541650"/>
            <a:ext cx="2897424" cy="16834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